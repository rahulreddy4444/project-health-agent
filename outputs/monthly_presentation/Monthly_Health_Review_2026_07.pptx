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Monthly Project Health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D2FF"/>
                </a:solidFill>
              </a:defRPr>
            </a:pPr>
            <a:r>
              <a:t>July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</a:defRPr>
            </a:pPr>
            <a:r>
              <a:t>Professional Services — 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Portfolio: 2 Active Projects</a:t>
            </a:r>
          </a:p>
        </p:txBody>
      </p:sp>
      <p:sp>
        <p:nvSpPr>
          <p:cNvPr id="6" name="Oval 5"/>
          <p:cNvSpPr/>
          <p:nvPr/>
        </p:nvSpPr>
        <p:spPr>
          <a:xfrm>
            <a:off x="3200400" y="4206240"/>
            <a:ext cx="457200" cy="457200"/>
          </a:xfrm>
          <a:prstGeom prst="ellipse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0" y="47548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C853"/>
                </a:solidFill>
              </a:defRPr>
            </a:pPr>
            <a:r>
              <a:t>0 Green</a:t>
            </a:r>
          </a:p>
        </p:txBody>
      </p:sp>
      <p:sp>
        <p:nvSpPr>
          <p:cNvPr id="8" name="Oval 7"/>
          <p:cNvSpPr/>
          <p:nvPr/>
        </p:nvSpPr>
        <p:spPr>
          <a:xfrm>
            <a:off x="4572000" y="4206240"/>
            <a:ext cx="457200" cy="457200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47548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B300"/>
                </a:solidFill>
              </a:defRPr>
            </a:pPr>
            <a:r>
              <a:t>0 Amber</a:t>
            </a:r>
          </a:p>
        </p:txBody>
      </p:sp>
      <p:sp>
        <p:nvSpPr>
          <p:cNvPr id="10" name="Oval 9"/>
          <p:cNvSpPr/>
          <p:nvPr/>
        </p:nvSpPr>
        <p:spPr>
          <a:xfrm>
            <a:off x="5943600" y="4206240"/>
            <a:ext cx="457200" cy="457200"/>
          </a:xfrm>
          <a:prstGeom prst="ellipse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0" y="47548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1744"/>
                </a:solidFill>
              </a:defRPr>
            </a:pPr>
            <a:r>
              <a:t>2 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08090"/>
                </a:solidFill>
              </a:defRPr>
            </a:pPr>
            <a:r>
              <a:t>Confidential — For Internal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Portfolio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</a:defRPr>
            </a:pPr>
            <a:r>
              <a:t>Health status across all active projects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80160"/>
          <a:ext cx="76809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188720"/>
                <a:gridCol w="1371600"/>
                <a:gridCol w="640080"/>
                <a:gridCol w="640080"/>
                <a:gridCol w="640080"/>
                <a:gridCol w="914400"/>
              </a:tblGrid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D2FF"/>
                          </a:solidFill>
                        </a:defRPr>
                      </a:pPr>
                      <a:r>
                        <a:t>Project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D2FF"/>
                          </a:solidFill>
                        </a:defRPr>
                      </a:pPr>
                      <a:r>
                        <a:t>PM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D2FF"/>
                          </a:solidFill>
                        </a:defRPr>
                      </a:pPr>
                      <a:r>
                        <a:t>Stage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D2FF"/>
                          </a:solidFill>
                        </a:defRPr>
                      </a:pPr>
                      <a:r>
                        <a:t>% Done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D2FF"/>
                          </a:solidFill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D2FF"/>
                          </a:solidFill>
                        </a:defRPr>
                      </a:pPr>
                      <a:r>
                        <a:t>RAG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D2FF"/>
                          </a:solidFill>
                        </a:defRPr>
                      </a:pPr>
                      <a:r>
                        <a:t>Confidence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Zycus - UniSan S2P Implementation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Rajat Bothra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Training Phase I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44%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1.2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1744"/>
                          </a:solidFill>
                        </a:defRPr>
                      </a:pPr>
                      <a:r>
                        <a:t>Red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Zycus - Titan S2P Implementation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Aftab Hashambhai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Configuration and Bu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71%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1.65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1744"/>
                          </a:solidFill>
                        </a:defRPr>
                      </a:pPr>
                      <a:r>
                        <a:t>Red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Health Dimensions — Cross-Project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</a:defRPr>
            </a:pPr>
            <a:r>
              <a:t>How each health dimension performs across the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463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Schedule Adherence</a:t>
            </a:r>
          </a:p>
        </p:txBody>
      </p:sp>
      <p:sp>
        <p:nvSpPr>
          <p:cNvPr id="5" name="Oval 4"/>
          <p:cNvSpPr/>
          <p:nvPr/>
        </p:nvSpPr>
        <p:spPr>
          <a:xfrm>
            <a:off x="2743200" y="1463040"/>
            <a:ext cx="274320" cy="274320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08960" y="1463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B300"/>
                </a:solidFill>
              </a:defRPr>
            </a:pPr>
            <a:r>
              <a:t>Amber</a:t>
            </a:r>
          </a:p>
        </p:txBody>
      </p:sp>
      <p:sp>
        <p:nvSpPr>
          <p:cNvPr id="7" name="Oval 6"/>
          <p:cNvSpPr/>
          <p:nvPr/>
        </p:nvSpPr>
        <p:spPr>
          <a:xfrm>
            <a:off x="5669280" y="1463040"/>
            <a:ext cx="274320" cy="274320"/>
          </a:xfrm>
          <a:prstGeom prst="ellipse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0" y="1463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1744"/>
                </a:solidFill>
              </a:defRPr>
            </a:pPr>
            <a:r>
              <a:t>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Completion Progress</a:t>
            </a:r>
          </a:p>
        </p:txBody>
      </p:sp>
      <p:sp>
        <p:nvSpPr>
          <p:cNvPr id="10" name="Oval 9"/>
          <p:cNvSpPr/>
          <p:nvPr/>
        </p:nvSpPr>
        <p:spPr>
          <a:xfrm>
            <a:off x="2743200" y="2286000"/>
            <a:ext cx="274320" cy="274320"/>
          </a:xfrm>
          <a:prstGeom prst="ellipse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2286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1744"/>
                </a:solidFill>
              </a:defRPr>
            </a:pPr>
            <a:r>
              <a:t>Red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0" y="2286000"/>
            <a:ext cx="274320" cy="274320"/>
          </a:xfrm>
          <a:prstGeom prst="ellipse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2286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C853"/>
                </a:solidFill>
              </a:defRPr>
            </a:pPr>
            <a:r>
              <a:t>Green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108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Milestone Health</a:t>
            </a:r>
          </a:p>
        </p:txBody>
      </p:sp>
      <p:sp>
        <p:nvSpPr>
          <p:cNvPr id="15" name="Oval 14"/>
          <p:cNvSpPr/>
          <p:nvPr/>
        </p:nvSpPr>
        <p:spPr>
          <a:xfrm>
            <a:off x="2743200" y="3108960"/>
            <a:ext cx="274320" cy="274320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8960" y="3108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B300"/>
                </a:solidFill>
              </a:defRPr>
            </a:pPr>
            <a:r>
              <a:t>Amber</a:t>
            </a:r>
          </a:p>
        </p:txBody>
      </p:sp>
      <p:sp>
        <p:nvSpPr>
          <p:cNvPr id="17" name="Oval 16"/>
          <p:cNvSpPr/>
          <p:nvPr/>
        </p:nvSpPr>
        <p:spPr>
          <a:xfrm>
            <a:off x="5669280" y="3108960"/>
            <a:ext cx="274320" cy="274320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3108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B300"/>
                </a:solidFill>
              </a:defRPr>
            </a:pPr>
            <a:r>
              <a:t>Amber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3931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Task Risk Profile</a:t>
            </a:r>
          </a:p>
        </p:txBody>
      </p:sp>
      <p:sp>
        <p:nvSpPr>
          <p:cNvPr id="20" name="Oval 19"/>
          <p:cNvSpPr/>
          <p:nvPr/>
        </p:nvSpPr>
        <p:spPr>
          <a:xfrm>
            <a:off x="2743200" y="3931920"/>
            <a:ext cx="274320" cy="274320"/>
          </a:xfrm>
          <a:prstGeom prst="ellipse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08960" y="3931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1744"/>
                </a:solidFill>
              </a:defRPr>
            </a:pPr>
            <a:r>
              <a:t>Red</a:t>
            </a:r>
          </a:p>
        </p:txBody>
      </p:sp>
      <p:sp>
        <p:nvSpPr>
          <p:cNvPr id="22" name="Oval 21"/>
          <p:cNvSpPr/>
          <p:nvPr/>
        </p:nvSpPr>
        <p:spPr>
          <a:xfrm>
            <a:off x="5669280" y="3931920"/>
            <a:ext cx="274320" cy="274320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3931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B300"/>
                </a:solidFill>
              </a:defRPr>
            </a:pPr>
            <a:r>
              <a:t>Amber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47548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Stakeholder Signals</a:t>
            </a:r>
          </a:p>
        </p:txBody>
      </p:sp>
      <p:sp>
        <p:nvSpPr>
          <p:cNvPr id="25" name="Oval 24"/>
          <p:cNvSpPr/>
          <p:nvPr/>
        </p:nvSpPr>
        <p:spPr>
          <a:xfrm>
            <a:off x="2743200" y="4754879"/>
            <a:ext cx="274320" cy="274320"/>
          </a:xfrm>
          <a:prstGeom prst="ellipse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08960" y="47548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1744"/>
                </a:solidFill>
              </a:defRPr>
            </a:pPr>
            <a:r>
              <a:t>Red</a:t>
            </a:r>
          </a:p>
        </p:txBody>
      </p:sp>
      <p:sp>
        <p:nvSpPr>
          <p:cNvPr id="27" name="Oval 26"/>
          <p:cNvSpPr/>
          <p:nvPr/>
        </p:nvSpPr>
        <p:spPr>
          <a:xfrm>
            <a:off x="5669280" y="4754879"/>
            <a:ext cx="274320" cy="274320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40" y="47548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B300"/>
                </a:solidFill>
              </a:defRPr>
            </a:pPr>
            <a:r>
              <a:t>Amber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1005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2FF"/>
                </a:solidFill>
              </a:defRPr>
            </a:pPr>
            <a:r>
              <a:t>Zycus - UniSan S2P Implem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1005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2FF"/>
                </a:solidFill>
              </a:defRPr>
            </a:pPr>
            <a:r>
              <a:t>Zycus - Titan S2P Impleme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4320" y="5669280"/>
            <a:ext cx="859536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715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B300"/>
                </a:solidFill>
              </a:defRPr>
            </a:pPr>
            <a:r>
              <a:t>⚠ Most common concern: Schedule Adherence (flagged in 2 projects)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Risk Spotlight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</a:defRPr>
            </a:pPr>
            <a:r>
              <a:t>Top risks requiring leadership attention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8595360" cy="6400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2FF"/>
                </a:solidFill>
              </a:defRPr>
            </a:pPr>
            <a:r>
              <a:t>Zycus - UniSan S2P Implem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</a:defRPr>
            </a:pPr>
            <a:r>
              <a:t>🟡 Schedule Adherence: Schedule is under pressure. Average delay is 2.0 days with 100% of baselined tasks running late. 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103120"/>
            <a:ext cx="8595360" cy="6400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4883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2FF"/>
                </a:solidFill>
              </a:defRPr>
            </a:pPr>
            <a:r>
              <a:t>Zycus - UniSan S2P Implem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39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</a:defRPr>
            </a:pPr>
            <a:r>
              <a:t>🔴 Completion Progress: Project is significantly behind schedule. At only 44% complete vs 59% expected — a 15pp gap. 192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834639"/>
            <a:ext cx="8595360" cy="6400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88035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2FF"/>
                </a:solidFill>
              </a:defRPr>
            </a:pPr>
            <a:r>
              <a:t>Zycus - UniSan S2P Implem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08959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</a:defRPr>
            </a:pPr>
            <a:r>
              <a:t>🟡 Milestone Health: Some milestones need attention. 85% are on track, but 1 are at risk (eProc and eInvoice and Merlin 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59"/>
            <a:ext cx="8595360" cy="6400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7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2FF"/>
                </a:solidFill>
              </a:defRPr>
            </a:pPr>
            <a:r>
              <a:t>Zycus - UniSan S2P Implem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40479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</a:defRPr>
            </a:pPr>
            <a:r>
              <a:t>🔴 Task Risk Profile: Task risk profile is concerning. Only 78% of active tasks are Green while 18% are Red. Immediate 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4297679"/>
            <a:ext cx="8595360" cy="6400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34339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2FF"/>
                </a:solidFill>
              </a:defRPr>
            </a:pPr>
            <a:r>
              <a:t>Zycus - UniSan S2P Implem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571999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</a:defRPr>
            </a:pPr>
            <a:r>
              <a:t>🔴 Stakeholder Signals: Stakeholder signals are negative: summary health is Red.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5029199"/>
            <a:ext cx="8595360" cy="6400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07491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2FF"/>
                </a:solidFill>
              </a:defRPr>
            </a:pPr>
            <a:r>
              <a:t>Zycus - Titan S2P Impleme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303519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</a:defRPr>
            </a:pPr>
            <a:r>
              <a:t>🔴 Schedule Adherence: Schedule is significantly slipping. Average delay is 19.6 days with 64% of tasks running behind ba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Deep Dive: Zycus - UniSan S2P Implementation</a:t>
            </a:r>
          </a:p>
        </p:txBody>
      </p:sp>
      <p:sp>
        <p:nvSpPr>
          <p:cNvPr id="3" name="Oval 2"/>
          <p:cNvSpPr/>
          <p:nvPr/>
        </p:nvSpPr>
        <p:spPr>
          <a:xfrm>
            <a:off x="8046720" y="320040"/>
            <a:ext cx="365760" cy="365760"/>
          </a:xfrm>
          <a:prstGeom prst="ellipse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005840"/>
            <a:ext cx="3840480" cy="16459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</a:defRPr>
            </a:pPr>
            <a:r>
              <a:t>PM: Rajat Bothra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</a:defRPr>
            </a:pPr>
            <a:r>
              <a:t>Stage: Training Phase 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</a:defRPr>
            </a:pPr>
            <a:r>
              <a:t>Timeline: 2026-02-11 → 2026-10-09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</a:defRPr>
            </a:pPr>
            <a:r>
              <a:t>Completion: 0.44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945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</a:defRPr>
            </a:pPr>
            <a:r>
              <a:t>Composite Score: 1.2/3.00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005840"/>
            <a:ext cx="4572000" cy="16459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0972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</a:defRPr>
            </a:pPr>
            <a:r>
              <a:t>Dimension Scores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0" y="1389888"/>
            <a:ext cx="182880" cy="182880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137160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B300"/>
                </a:solidFill>
              </a:defRPr>
            </a:pPr>
            <a:r>
              <a:t>Schedule Adherence: Amber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0" y="1618488"/>
            <a:ext cx="182880" cy="182880"/>
          </a:xfrm>
          <a:prstGeom prst="ellipse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160020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1744"/>
                </a:solidFill>
              </a:defRPr>
            </a:pPr>
            <a:r>
              <a:t>Completion Progress: Red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0" y="1847088"/>
            <a:ext cx="182880" cy="182880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182880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B300"/>
                </a:solidFill>
              </a:defRPr>
            </a:pPr>
            <a:r>
              <a:t>Milestone Health: Amber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0" y="2075688"/>
            <a:ext cx="182880" cy="182880"/>
          </a:xfrm>
          <a:prstGeom prst="ellipse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205740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1744"/>
                </a:solidFill>
              </a:defRPr>
            </a:pPr>
            <a:r>
              <a:t>Task Risk Profile: Red</a:t>
            </a:r>
          </a:p>
        </p:txBody>
      </p:sp>
      <p:sp>
        <p:nvSpPr>
          <p:cNvPr id="20" name="Oval 19"/>
          <p:cNvSpPr/>
          <p:nvPr/>
        </p:nvSpPr>
        <p:spPr>
          <a:xfrm>
            <a:off x="4572000" y="2304288"/>
            <a:ext cx="182880" cy="182880"/>
          </a:xfrm>
          <a:prstGeom prst="ellipse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228600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1744"/>
                </a:solidFill>
              </a:defRPr>
            </a:pPr>
            <a:r>
              <a:t>Stakeholder Signals: 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8346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1744"/>
                </a:solidFill>
              </a:defRPr>
            </a:pPr>
            <a:r>
              <a:t>Key Risks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</a:defRPr>
            </a:pPr>
            <a:r>
              <a:t>• 🟡 Schedule Adherence: Schedule is under pressure. Average delay is 2.0 days with 100% of baselined 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</a:defRPr>
            </a:pPr>
            <a:r>
              <a:t>• 🔴 Completion Progress: Project is significantly behind schedule. At only 44% complete vs 59% expecte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</a:defRPr>
            </a:pPr>
            <a:r>
              <a:t>• 🟡 Milestone Health: Some milestones need attention. 85% are on track, but 1 are at risk (eProc and 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</a:defRPr>
            </a:pPr>
            <a:r>
              <a:t>• 🔴 Task Risk Profile: Task risk profile is concerning. Only 78% of active tasks are Green while 18% 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</a:defRPr>
            </a:pPr>
            <a:r>
              <a:t>Recommended Actions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937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</a:defRPr>
            </a:pPr>
            <a:r>
              <a:t>1. Review resource allocation — consider adding capacity to critical path tasks.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257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</a:defRPr>
            </a:pPr>
            <a:r>
              <a:t>2. Perform a task-level triage to re-prioritize and resolve blocked items.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577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</a:defRPr>
            </a:pPr>
            <a:r>
              <a:t>3. Schedule a stakeholder alignment meeting to address concerns and reset expectations.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Deep Dive: Zycus - Titan S2P Implementation</a:t>
            </a:r>
          </a:p>
        </p:txBody>
      </p:sp>
      <p:sp>
        <p:nvSpPr>
          <p:cNvPr id="3" name="Oval 2"/>
          <p:cNvSpPr/>
          <p:nvPr/>
        </p:nvSpPr>
        <p:spPr>
          <a:xfrm>
            <a:off x="8046720" y="320040"/>
            <a:ext cx="365760" cy="365760"/>
          </a:xfrm>
          <a:prstGeom prst="ellipse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005840"/>
            <a:ext cx="3840480" cy="16459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</a:defRPr>
            </a:pPr>
            <a:r>
              <a:t>PM: Aftab Hashambhai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</a:defRPr>
            </a:pPr>
            <a:r>
              <a:t>Stage: Configuration and Build phase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</a:defRPr>
            </a:pPr>
            <a:r>
              <a:t>Timeline: 2025-12-05 → 2026-12-07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</a:defRPr>
            </a:pPr>
            <a:r>
              <a:t>Completion: 0.71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945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</a:defRPr>
            </a:pPr>
            <a:r>
              <a:t>Composite Score: 1.65/3.00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005840"/>
            <a:ext cx="4572000" cy="16459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0972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</a:defRPr>
            </a:pPr>
            <a:r>
              <a:t>Dimension Scores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0" y="1389888"/>
            <a:ext cx="182880" cy="182880"/>
          </a:xfrm>
          <a:prstGeom prst="ellipse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137160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1744"/>
                </a:solidFill>
              </a:defRPr>
            </a:pPr>
            <a:r>
              <a:t>Schedule Adherence: Red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0" y="1618488"/>
            <a:ext cx="182880" cy="182880"/>
          </a:xfrm>
          <a:prstGeom prst="ellipse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160020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C853"/>
                </a:solidFill>
              </a:defRPr>
            </a:pPr>
            <a:r>
              <a:t>Completion Progress: Green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0" y="1847088"/>
            <a:ext cx="182880" cy="182880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182880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B300"/>
                </a:solidFill>
              </a:defRPr>
            </a:pPr>
            <a:r>
              <a:t>Milestone Health: Amber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0" y="2075688"/>
            <a:ext cx="182880" cy="182880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205740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B300"/>
                </a:solidFill>
              </a:defRPr>
            </a:pPr>
            <a:r>
              <a:t>Task Risk Profile: Amber</a:t>
            </a:r>
          </a:p>
        </p:txBody>
      </p:sp>
      <p:sp>
        <p:nvSpPr>
          <p:cNvPr id="20" name="Oval 19"/>
          <p:cNvSpPr/>
          <p:nvPr/>
        </p:nvSpPr>
        <p:spPr>
          <a:xfrm>
            <a:off x="4572000" y="2304288"/>
            <a:ext cx="182880" cy="182880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228600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B300"/>
                </a:solidFill>
              </a:defRPr>
            </a:pPr>
            <a:r>
              <a:t>Stakeholder Signals: Amber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8346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1744"/>
                </a:solidFill>
              </a:defRPr>
            </a:pPr>
            <a:r>
              <a:t>Key Risks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</a:defRPr>
            </a:pPr>
            <a:r>
              <a:t>• 🔴 Schedule Adherence: Schedule is significantly slipping. Average delay is 19.6 days with 64% of tas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</a:defRPr>
            </a:pPr>
            <a:r>
              <a:t>• 🟡 Milestone Health: Some milestones need attention. 67% are on track, but 1 are at risk (Phase 1- S2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</a:defRPr>
            </a:pPr>
            <a:r>
              <a:t>• 🟡 Task Risk Profile: Task risk profile shows moderate concern. 89% of tasks are Green, but 10% are 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</a:defRPr>
            </a:pPr>
            <a:r>
              <a:t>• 🟡 Stakeholder Signals: Mixed stakeholder signals: 3 task(s) on hold; project flagged as High risk;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</a:defRPr>
            </a:pPr>
            <a:r>
              <a:t>Recommended Actions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937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</a:defRPr>
            </a:pPr>
            <a:r>
              <a:t>1. Conduct an urgent schedule recovery workshop with the PM to identify acceleration opportunities.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257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</a:defRPr>
            </a:pPr>
            <a:r>
              <a:t>2. Perform a task-level triage to re-prioritize and resolve blocked items.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577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</a:defRPr>
            </a:pPr>
            <a:r>
              <a:t>3. Schedule a stakeholder alignment meeting to address concerns and reset expectations.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Recommendations &amp; Next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859536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7043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</a:defRPr>
            </a:pPr>
            <a:r>
              <a:t>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70432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Review resource allocation — consider adding capacity to critical path tasks.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645919"/>
            <a:ext cx="859536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</a:defRPr>
            </a:pPr>
            <a:r>
              <a:t>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19072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Perform a task-level triage to re-prioritize and resolve blocked items.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2194560"/>
            <a:ext cx="859536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26771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</a:defRPr>
            </a:pPr>
            <a:r>
              <a:t>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67712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Schedule a stakeholder alignment meeting to address concerns and reset expectations.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743200"/>
            <a:ext cx="859536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8163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</a:defRPr>
            </a:pPr>
            <a:r>
              <a:t>4.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816352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Conduct an urgent schedule recovery workshop with the PM to identify acceleration opportunities.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5303520"/>
            <a:ext cx="8595360" cy="9144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394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</a:defRPr>
            </a:pPr>
            <a:r>
              <a:t>Next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669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</a:defRPr>
            </a:pPr>
            <a:r>
              <a:t>Weekly health reports will continue. Next monthly review scheduled in 4 weeks. Please raise any concerns to the PM or steering committee immediately.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